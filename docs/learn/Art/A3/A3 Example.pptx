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9" autoAdjust="0"/>
    <p:restoredTop sz="94660"/>
  </p:normalViewPr>
  <p:slideViewPr>
    <p:cSldViewPr snapToGrid="0">
      <p:cViewPr varScale="1">
        <p:scale>
          <a:sx n="94" d="100"/>
          <a:sy n="94" d="100"/>
        </p:scale>
        <p:origin x="469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E0871-3028-B05A-C896-1A5CD0DFF5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38E0D9-E770-EE2B-B467-52B0997869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9358E-1026-6D07-9749-BF1B8532B5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B5D2-8072-4D40-88A6-1F1D3E283196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EFE6E-4CC9-6379-6D00-B3256EDA4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424C21-96A8-00DA-2B99-C8DEB243B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CE53C-7958-4FD8-868D-665C9ADB3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860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F232F-BFDD-B8CA-11D5-A9244AF6D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EBA7B-693F-7D5C-BEE6-DFF4D0B31A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C1960-DAFD-1D9E-EEB9-9D1878570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B5D2-8072-4D40-88A6-1F1D3E283196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8C8F8-46C8-AE60-155F-A5AE46B9B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3E8D2-8A6B-CD3B-FAB5-D1E3DB0D9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CE53C-7958-4FD8-868D-665C9ADB3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418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F54D0-3A00-6636-84CC-DE40FB035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9B661-ECF2-40EC-B5B3-593F53F2E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D4D4A-5115-082B-F3B7-3F52B4298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B5D2-8072-4D40-88A6-1F1D3E283196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5CC2B-4E50-7296-88DF-2AF5BEF74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D6631-4C12-4137-0EAC-426017C10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CE53C-7958-4FD8-868D-665C9ADB3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2776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A705A-A1B1-958F-3416-A65B2857D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0C5A0-1D2F-D60B-B05E-484E707CD7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0D4B31-B0CB-5F28-11FD-66E7A698DE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707616-B481-4FAD-CEBA-02946AAE2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B5D2-8072-4D40-88A6-1F1D3E283196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014C10-47D3-712F-0FB6-B72CC8AA7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6CFF8C-324A-7A99-23E8-AE2CED9C4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CE53C-7958-4FD8-868D-665C9ADB3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511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0F24B-02C4-5712-E42D-D0905F886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C318D4-EFE4-1B5F-6B82-30849E3102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846FE0-CCCB-A96E-267C-0E5ED7E5D4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27651B-F6DF-767B-AF34-45B161314E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682A65-46A9-917D-25A8-1EEE7FBFE7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E80DD5-784F-0A4C-CC5E-9FE727339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B5D2-8072-4D40-88A6-1F1D3E283196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2AFE1F-5979-F66D-6374-E109B70B4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CA0212-B92A-267F-EF13-931C0092B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CE53C-7958-4FD8-868D-665C9ADB3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04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4CC5D-AC1C-B1F8-B1B9-C640339F3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21CCC4-7CC4-045F-313F-56CD84023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B5D2-8072-4D40-88A6-1F1D3E283196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67BCC8-A65C-F220-65CD-751DBDDC2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DCC2A0-7095-A805-A71F-0BBCE25DE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CE53C-7958-4FD8-868D-665C9ADB3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771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D16965-3ADE-4E2B-7AB5-536C0791C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B5D2-8072-4D40-88A6-1F1D3E283196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CA514A-3D67-04F7-B828-43F5595F1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75A282-A505-2E56-1A0B-3F700034C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CE53C-7958-4FD8-868D-665C9ADB3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6318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0A15C-CC7B-BE69-11B0-2AA67A642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F33782-E631-239D-7D65-2E5F6337D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3379A6-2A32-751D-393A-F7EC3D117E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9C9EEB-554B-AFFB-A811-D88E94190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B5D2-8072-4D40-88A6-1F1D3E283196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F6E1FE-D560-5323-CE4A-4FEECB117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BD64E-7AEC-9F69-0DAC-FBFA2FF2C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CE53C-7958-4FD8-868D-665C9ADB3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006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2D340-9D32-52B6-A993-1FA9BAC21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17F768-599B-1167-68FD-FDDD29BA65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B9D05D-D4E8-0962-ABA2-51D37299A2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3B3667-EDE9-92E6-7311-FC4C3178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B5D2-8072-4D40-88A6-1F1D3E283196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7F515D-E388-B4CF-5971-F4D0D5B67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BC2A20-4434-7789-120D-1E2D37BA9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CE53C-7958-4FD8-868D-665C9ADB3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7826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5BE2C-0FD2-4C4B-47F4-183560621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05C6F8-330D-5084-F389-22392349A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AB85C-A9DD-480A-055C-92C9ED64F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B5D2-8072-4D40-88A6-1F1D3E283196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9D091-A5F7-A845-47CC-82E31AE49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68FAB-E7A6-386F-F94E-60B41BB48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CE53C-7958-4FD8-868D-665C9ADB3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043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B13C0-9584-906E-7115-34E52F67D7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AA9329-F867-6F27-5D41-A2219F4131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A380A-2E69-CD66-9B4E-B19DEDC3C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5B5D2-8072-4D40-88A6-1F1D3E283196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8E2AEF-ABF7-CE97-D67F-665AFE66A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C81B8-B042-C322-883A-BCA882660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DCE53C-7958-4FD8-868D-665C9ADB3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347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D58D190-302F-2764-7E72-5F0FCE855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503F8-0FC6-BFAE-A2B0-410FAED159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21E24-3F0C-1941-AA38-BAB64E3C77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95B5D2-8072-4D40-88A6-1F1D3E283196}" type="datetimeFigureOut">
              <a:rPr lang="en-US" smtClean="0"/>
              <a:t>4/11/2025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30FE8-F2B8-3BD2-153C-9343B40B7D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6704FD-E978-59F4-A42E-70B0585C1D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DCE53C-7958-4FD8-868D-665C9ADB36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94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2">
            <a:extLst>
              <a:ext uri="{FF2B5EF4-FFF2-40B4-BE49-F238E27FC236}">
                <a16:creationId xmlns:a16="http://schemas.microsoft.com/office/drawing/2014/main" id="{287ED69F-C1A9-3EB1-1DDB-89727A1856F3}"/>
              </a:ext>
            </a:extLst>
          </p:cNvPr>
          <p:cNvSpPr txBox="1">
            <a:spLocks/>
          </p:cNvSpPr>
          <p:nvPr/>
        </p:nvSpPr>
        <p:spPr>
          <a:xfrm>
            <a:off x="214522" y="167746"/>
            <a:ext cx="11778398" cy="64120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defTabSz="457189" eaLnBrk="0" fontAlgn="base" hangingPunct="0">
              <a:spcAft>
                <a:spcPct val="0"/>
              </a:spcAft>
            </a:pPr>
            <a:r>
              <a:rPr lang="en-US" sz="3733" cap="all" dirty="0">
                <a:solidFill>
                  <a:schemeClr val="bg1"/>
                </a:solidFill>
                <a:latin typeface="Arial Black" panose="020B0A04020102020204" pitchFamily="34" charset="0"/>
                <a:ea typeface="MS PGothic" panose="020B0600070205080204" pitchFamily="34" charset="-128"/>
              </a:rPr>
              <a:t>Example A3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45655669-8900-1E30-CC1B-C2144CADF15F}"/>
              </a:ext>
            </a:extLst>
          </p:cNvPr>
          <p:cNvSpPr/>
          <p:nvPr/>
        </p:nvSpPr>
        <p:spPr>
          <a:xfrm rot="5400000">
            <a:off x="3893082" y="3163989"/>
            <a:ext cx="3765247" cy="785051"/>
          </a:xfrm>
          <a:custGeom>
            <a:avLst/>
            <a:gdLst>
              <a:gd name="connsiteX0" fmla="*/ 0 w 2691975"/>
              <a:gd name="connsiteY0" fmla="*/ 96864 h 471537"/>
              <a:gd name="connsiteX1" fmla="*/ 96865 w 2691975"/>
              <a:gd name="connsiteY1" fmla="*/ 0 h 471537"/>
              <a:gd name="connsiteX2" fmla="*/ 193729 w 2691975"/>
              <a:gd name="connsiteY2" fmla="*/ 96864 h 471537"/>
              <a:gd name="connsiteX3" fmla="*/ 145297 w 2691975"/>
              <a:gd name="connsiteY3" fmla="*/ 96864 h 471537"/>
              <a:gd name="connsiteX4" fmla="*/ 145297 w 2691975"/>
              <a:gd name="connsiteY4" fmla="*/ 236350 h 471537"/>
              <a:gd name="connsiteX5" fmla="*/ 2691975 w 2691975"/>
              <a:gd name="connsiteY5" fmla="*/ 236350 h 471537"/>
              <a:gd name="connsiteX6" fmla="*/ 2691975 w 2691975"/>
              <a:gd name="connsiteY6" fmla="*/ 288657 h 471537"/>
              <a:gd name="connsiteX7" fmla="*/ 2691975 w 2691975"/>
              <a:gd name="connsiteY7" fmla="*/ 340964 h 471537"/>
              <a:gd name="connsiteX8" fmla="*/ 2691975 w 2691975"/>
              <a:gd name="connsiteY8" fmla="*/ 471537 h 471537"/>
              <a:gd name="connsiteX9" fmla="*/ 2587361 w 2691975"/>
              <a:gd name="connsiteY9" fmla="*/ 471537 h 471537"/>
              <a:gd name="connsiteX10" fmla="*/ 2587361 w 2691975"/>
              <a:gd name="connsiteY10" fmla="*/ 340964 h 471537"/>
              <a:gd name="connsiteX11" fmla="*/ 57263 w 2691975"/>
              <a:gd name="connsiteY11" fmla="*/ 340964 h 471537"/>
              <a:gd name="connsiteX12" fmla="*/ 57263 w 2691975"/>
              <a:gd name="connsiteY12" fmla="*/ 339104 h 471537"/>
              <a:gd name="connsiteX13" fmla="*/ 48432 w 2691975"/>
              <a:gd name="connsiteY13" fmla="*/ 339104 h 471537"/>
              <a:gd name="connsiteX14" fmla="*/ 48432 w 2691975"/>
              <a:gd name="connsiteY14" fmla="*/ 96864 h 4715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691975" h="471537">
                <a:moveTo>
                  <a:pt x="0" y="96864"/>
                </a:moveTo>
                <a:lnTo>
                  <a:pt x="96865" y="0"/>
                </a:lnTo>
                <a:lnTo>
                  <a:pt x="193729" y="96864"/>
                </a:lnTo>
                <a:lnTo>
                  <a:pt x="145297" y="96864"/>
                </a:lnTo>
                <a:lnTo>
                  <a:pt x="145297" y="236350"/>
                </a:lnTo>
                <a:lnTo>
                  <a:pt x="2691975" y="236350"/>
                </a:lnTo>
                <a:lnTo>
                  <a:pt x="2691975" y="288657"/>
                </a:lnTo>
                <a:lnTo>
                  <a:pt x="2691975" y="340964"/>
                </a:lnTo>
                <a:lnTo>
                  <a:pt x="2691975" y="471537"/>
                </a:lnTo>
                <a:lnTo>
                  <a:pt x="2587361" y="471537"/>
                </a:lnTo>
                <a:lnTo>
                  <a:pt x="2587361" y="340964"/>
                </a:lnTo>
                <a:lnTo>
                  <a:pt x="57263" y="340964"/>
                </a:lnTo>
                <a:lnTo>
                  <a:pt x="57263" y="339104"/>
                </a:lnTo>
                <a:lnTo>
                  <a:pt x="48432" y="339104"/>
                </a:lnTo>
                <a:lnTo>
                  <a:pt x="48432" y="96864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09585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3200" dirty="0">
              <a:solidFill>
                <a:prstClr val="white"/>
              </a:solidFill>
              <a:latin typeface="Arial" panose="020B0604020202020204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E24E47D-231F-E6FB-4D09-52B756CBD6F1}"/>
              </a:ext>
            </a:extLst>
          </p:cNvPr>
          <p:cNvSpPr/>
          <p:nvPr/>
        </p:nvSpPr>
        <p:spPr>
          <a:xfrm>
            <a:off x="291649" y="1038797"/>
            <a:ext cx="5784979" cy="1842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960" rtlCol="0" anchor="ctr"/>
          <a:lstStyle/>
          <a:p>
            <a:pPr defTabSz="60958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67" dirty="0">
                <a:solidFill>
                  <a:prstClr val="black"/>
                </a:solidFill>
                <a:latin typeface="Comic Sans MS" panose="030F0702030302020204" pitchFamily="66" charset="0"/>
              </a:rPr>
              <a:t>Title:  Project XYZZY 6-Week Delay Creates $2.1MM Gap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52C854-B204-2958-F49B-3F80EB81EB51}"/>
              </a:ext>
            </a:extLst>
          </p:cNvPr>
          <p:cNvSpPr/>
          <p:nvPr/>
        </p:nvSpPr>
        <p:spPr>
          <a:xfrm>
            <a:off x="6233042" y="867744"/>
            <a:ext cx="1645920" cy="1842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960" rtlCol="0" anchor="ctr"/>
          <a:lstStyle/>
          <a:p>
            <a:pPr defTabSz="60958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67" dirty="0">
                <a:solidFill>
                  <a:prstClr val="black"/>
                </a:solidFill>
                <a:latin typeface="Comic Sans MS" panose="030F0702030302020204" pitchFamily="66" charset="0"/>
              </a:rPr>
              <a:t>Owner:  I.M.N. Trubbel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BFE586-F163-4AD4-4F56-785F201C8D66}"/>
              </a:ext>
            </a:extLst>
          </p:cNvPr>
          <p:cNvSpPr/>
          <p:nvPr/>
        </p:nvSpPr>
        <p:spPr>
          <a:xfrm>
            <a:off x="6233042" y="1038795"/>
            <a:ext cx="1645920" cy="18425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960" rtlCol="0" anchor="ctr"/>
          <a:lstStyle/>
          <a:p>
            <a:pPr defTabSz="60958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67" dirty="0">
                <a:solidFill>
                  <a:prstClr val="black"/>
                </a:solidFill>
                <a:latin typeface="Comic Sans MS" panose="030F0702030302020204" pitchFamily="66" charset="0"/>
              </a:rPr>
              <a:t>Rev 2/Date:  Sept 10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0B3B699-BF85-FE20-3592-5F2E605E551D}"/>
              </a:ext>
            </a:extLst>
          </p:cNvPr>
          <p:cNvGrpSpPr/>
          <p:nvPr/>
        </p:nvGrpSpPr>
        <p:grpSpPr>
          <a:xfrm>
            <a:off x="291649" y="1295023"/>
            <a:ext cx="5099916" cy="1679633"/>
            <a:chOff x="218736" y="1144603"/>
            <a:chExt cx="3824937" cy="125972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35FDA0B-1FBE-B996-4B52-BF109DEA0DF2}"/>
                </a:ext>
              </a:extLst>
            </p:cNvPr>
            <p:cNvSpPr/>
            <p:nvPr/>
          </p:nvSpPr>
          <p:spPr>
            <a:xfrm>
              <a:off x="218736" y="1144603"/>
              <a:ext cx="3824937" cy="138193"/>
            </a:xfrm>
            <a:prstGeom prst="rect">
              <a:avLst/>
            </a:prstGeom>
            <a:solidFill>
              <a:srgbClr val="BAD8F2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60960" rtlCol="0" anchor="ctr"/>
            <a:lstStyle/>
            <a:p>
              <a:pPr defTabSz="609585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067" dirty="0">
                  <a:solidFill>
                    <a:prstClr val="black"/>
                  </a:solidFill>
                  <a:latin typeface="Comic Sans MS" panose="030F0702030302020204" pitchFamily="66" charset="0"/>
                </a:rPr>
                <a:t>1. Organizational Need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1CE2620-CFA0-8EA8-650A-FB2BDF193A4D}"/>
                </a:ext>
              </a:extLst>
            </p:cNvPr>
            <p:cNvSpPr/>
            <p:nvPr/>
          </p:nvSpPr>
          <p:spPr>
            <a:xfrm>
              <a:off x="218736" y="1282794"/>
              <a:ext cx="3824937" cy="11215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60960" rtlCol="0" anchor="t"/>
            <a:lstStyle/>
            <a:p>
              <a:pPr>
                <a:buNone/>
              </a:pPr>
              <a:r>
                <a:rPr lang="en-US" sz="1000" dirty="0">
                  <a:solidFill>
                    <a:schemeClr val="tx1"/>
                  </a:solidFill>
                </a:rPr>
                <a:t>Project XYZZY is a critical part of our near-term growth strategy. A six-week delay may sound manageable, but in this case, it creates a projected </a:t>
              </a:r>
              <a:r>
                <a:rPr lang="en-US" sz="1000" b="1" dirty="0">
                  <a:solidFill>
                    <a:schemeClr val="tx1"/>
                  </a:solidFill>
                </a:rPr>
                <a:t>$2.1MM shortfall</a:t>
              </a:r>
              <a:r>
                <a:rPr lang="en-US" sz="1000" dirty="0">
                  <a:solidFill>
                    <a:schemeClr val="tx1"/>
                  </a:solidFill>
                </a:rPr>
                <a:t> in revenue over the next 24 months. That’s a material gap—one that affects our ability to fund key initiatives, meet strategic targets, and deliver on customer expectations.</a:t>
              </a:r>
            </a:p>
            <a:p>
              <a:pPr>
                <a:buNone/>
              </a:pPr>
              <a:endParaRPr lang="en-US" sz="1000" dirty="0">
                <a:solidFill>
                  <a:schemeClr val="tx1"/>
                </a:solidFill>
              </a:endParaRPr>
            </a:p>
            <a:p>
              <a:r>
                <a:rPr lang="en-US" sz="1000" dirty="0">
                  <a:solidFill>
                    <a:schemeClr val="tx1"/>
                  </a:solidFill>
                </a:rPr>
                <a:t>The deadline to recover that delay is </a:t>
              </a:r>
              <a:r>
                <a:rPr lang="en-US" sz="1000" b="1" dirty="0">
                  <a:solidFill>
                    <a:schemeClr val="tx1"/>
                  </a:solidFill>
                </a:rPr>
                <a:t>October 15</a:t>
              </a:r>
              <a:r>
                <a:rPr lang="en-US" sz="1000" dirty="0">
                  <a:solidFill>
                    <a:schemeClr val="tx1"/>
                  </a:solidFill>
                </a:rPr>
                <a:t>. Missing it doesn’t just impact financials; it affects credibility with both internal stakeholders and external partners. Our customers are counting on this launch. Our teams are aligned and motivated—but they need a clear path.</a:t>
              </a:r>
            </a:p>
            <a:p>
              <a:pPr defTabSz="609585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000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B76B436-7E97-FE33-4E74-721FADD415A4}"/>
              </a:ext>
            </a:extLst>
          </p:cNvPr>
          <p:cNvGrpSpPr/>
          <p:nvPr/>
        </p:nvGrpSpPr>
        <p:grpSpPr>
          <a:xfrm>
            <a:off x="291649" y="3634270"/>
            <a:ext cx="5099916" cy="2947396"/>
            <a:chOff x="218736" y="1547025"/>
            <a:chExt cx="3824937" cy="1549255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04C3F7D-0F47-39CC-36CC-40A25158B524}"/>
                </a:ext>
              </a:extLst>
            </p:cNvPr>
            <p:cNvSpPr/>
            <p:nvPr/>
          </p:nvSpPr>
          <p:spPr>
            <a:xfrm>
              <a:off x="218736" y="1547025"/>
              <a:ext cx="3824937" cy="138193"/>
            </a:xfrm>
            <a:prstGeom prst="rect">
              <a:avLst/>
            </a:prstGeom>
            <a:solidFill>
              <a:srgbClr val="BAD8F2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096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609585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067" dirty="0">
                  <a:solidFill>
                    <a:prstClr val="black"/>
                  </a:solidFill>
                  <a:latin typeface="Comic Sans MS" panose="030F0702030302020204" pitchFamily="66" charset="0"/>
                </a:rPr>
                <a:t>3. Analysis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02946748-1E44-378E-1386-732C7569F597}"/>
                </a:ext>
              </a:extLst>
            </p:cNvPr>
            <p:cNvSpPr/>
            <p:nvPr/>
          </p:nvSpPr>
          <p:spPr>
            <a:xfrm>
              <a:off x="218736" y="1689874"/>
              <a:ext cx="3824937" cy="14064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60960" rtlCol="0" anchor="t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000" dirty="0">
                  <a:solidFill>
                    <a:schemeClr val="tx1"/>
                  </a:solidFill>
                </a:rPr>
                <a:t>The current delay began with a missed delivery from a key vendor—an updated firmware package that was due mid-February. That slip created a domino effect: integration work backed up, hardware testing windows collapsed, and we’re now looking at a six-week overall delay.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lang="en-US" altLang="en-US" sz="1000" dirty="0">
                <a:solidFill>
                  <a:schemeClr val="tx1"/>
                </a:solidFill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000" dirty="0">
                  <a:solidFill>
                    <a:schemeClr val="tx1"/>
                  </a:solidFill>
                </a:rPr>
                <a:t>In the past two months, we made several attempts to recover within existing resources:</a:t>
              </a: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lang="en-US" altLang="en-US" sz="1000" dirty="0">
                  <a:solidFill>
                    <a:schemeClr val="tx1"/>
                  </a:solidFill>
                </a:rPr>
                <a:t>The firmware team tried to parallelize validation and integration, but bugs in the early build made that unworkable.</a:t>
              </a: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lang="en-US" altLang="en-US" sz="1000" dirty="0">
                  <a:solidFill>
                    <a:schemeClr val="tx1"/>
                  </a:solidFill>
                </a:rPr>
                <a:t>A weekend sprint was organized to regain ground on testing, but a spike in rework costs forced it to pause after week two.</a:t>
              </a:r>
            </a:p>
            <a:p>
              <a:pPr marL="171450" marR="0" lvl="0" indent="-17145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</a:pPr>
              <a:r>
                <a:rPr lang="en-US" altLang="en-US" sz="1000" dirty="0">
                  <a:solidFill>
                    <a:schemeClr val="tx1"/>
                  </a:solidFill>
                </a:rPr>
                <a:t>A proposal to pull engineers from Project Zephyr was floated but rejected—Zephyr is on a customer milestone path of its own.</a:t>
              </a:r>
              <a:br>
                <a:rPr lang="en-US" altLang="en-US" sz="1000" dirty="0">
                  <a:solidFill>
                    <a:schemeClr val="tx1"/>
                  </a:solidFill>
                </a:rPr>
              </a:br>
              <a:endParaRPr lang="en-US" altLang="en-US" sz="1000" dirty="0">
                <a:solidFill>
                  <a:schemeClr val="tx1"/>
                </a:solidFill>
              </a:endParaRPr>
            </a:p>
            <a:p>
              <a:pPr marR="0" lvl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en-US" altLang="en-US" sz="1000" dirty="0">
                  <a:solidFill>
                    <a:schemeClr val="tx1"/>
                  </a:solidFill>
                </a:rPr>
                <a:t>Now, we’re facing the consequence: we will miss the Spring Tech Showcase, a critical opportunity to debut in front of major buyers.  One enterprise customer put it bluntly last week:  </a:t>
              </a:r>
              <a:r>
                <a:rPr lang="en-US" altLang="en-US" sz="1000" i="1" dirty="0">
                  <a:solidFill>
                    <a:schemeClr val="tx1"/>
                  </a:solidFill>
                </a:rPr>
                <a:t>“If this slips past the spring window, we’ll need to reevaluate your fit for our roadmap—we can't afford this level of uncertainty.”</a:t>
              </a:r>
            </a:p>
            <a:p>
              <a:pPr defTabSz="609585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000" dirty="0">
                <a:solidFill>
                  <a:prstClr val="black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B35E00B-2413-BACD-7EF2-6F30B8CFFC1A}"/>
              </a:ext>
            </a:extLst>
          </p:cNvPr>
          <p:cNvGrpSpPr/>
          <p:nvPr/>
        </p:nvGrpSpPr>
        <p:grpSpPr>
          <a:xfrm>
            <a:off x="291649" y="3015751"/>
            <a:ext cx="5099916" cy="584967"/>
            <a:chOff x="218736" y="2286898"/>
            <a:chExt cx="3824937" cy="438725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BE761D0-3406-BD2B-0C1E-A65AF5A34C08}"/>
                </a:ext>
              </a:extLst>
            </p:cNvPr>
            <p:cNvSpPr/>
            <p:nvPr/>
          </p:nvSpPr>
          <p:spPr>
            <a:xfrm>
              <a:off x="218736" y="2286898"/>
              <a:ext cx="3824937" cy="138193"/>
            </a:xfrm>
            <a:prstGeom prst="rect">
              <a:avLst/>
            </a:prstGeom>
            <a:solidFill>
              <a:srgbClr val="BAD8F2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096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609585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067" dirty="0">
                  <a:solidFill>
                    <a:prstClr val="black"/>
                  </a:solidFill>
                  <a:latin typeface="Comic Sans MS" panose="030F0702030302020204" pitchFamily="66" charset="0"/>
                </a:rPr>
                <a:t>2. Problem Statement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07C32D4-15A5-3A16-56F8-0503A2E1231E}"/>
                </a:ext>
              </a:extLst>
            </p:cNvPr>
            <p:cNvSpPr/>
            <p:nvPr/>
          </p:nvSpPr>
          <p:spPr>
            <a:xfrm>
              <a:off x="218736" y="2413529"/>
              <a:ext cx="3824937" cy="3120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60960" rtlCol="0" anchor="t"/>
            <a:lstStyle/>
            <a:p>
              <a:pPr defTabSz="609585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000" dirty="0">
                  <a:solidFill>
                    <a:schemeClr val="tx1"/>
                  </a:solidFill>
                </a:rPr>
                <a:t>Drive current state from </a:t>
              </a:r>
              <a:r>
                <a:rPr lang="en-US" sz="1000" b="1" dirty="0">
                  <a:solidFill>
                    <a:schemeClr val="tx1"/>
                  </a:solidFill>
                </a:rPr>
                <a:t>24-month revenue of $2.1MM </a:t>
              </a:r>
              <a:r>
                <a:rPr lang="en-US" sz="1000" dirty="0">
                  <a:solidFill>
                    <a:schemeClr val="tx1"/>
                  </a:solidFill>
                </a:rPr>
                <a:t>to </a:t>
              </a:r>
              <a:r>
                <a:rPr lang="en-US" sz="1000" b="1" dirty="0">
                  <a:solidFill>
                    <a:schemeClr val="tx1"/>
                  </a:solidFill>
                </a:rPr>
                <a:t>$4.2MM </a:t>
              </a:r>
              <a:r>
                <a:rPr lang="en-US" sz="1000" dirty="0">
                  <a:solidFill>
                    <a:schemeClr val="tx1"/>
                  </a:solidFill>
                </a:rPr>
                <a:t>by mitigating a known 6-week project delay </a:t>
              </a:r>
              <a:r>
                <a:rPr lang="en-US" sz="1000" b="1" dirty="0">
                  <a:solidFill>
                    <a:schemeClr val="tx1"/>
                  </a:solidFill>
                </a:rPr>
                <a:t>by October 15.</a:t>
              </a:r>
              <a:r>
                <a:rPr lang="en-US" sz="1000" dirty="0">
                  <a:solidFill>
                    <a:schemeClr val="tx1"/>
                  </a:solidFill>
                </a:rPr>
                <a:t> </a:t>
              </a:r>
            </a:p>
            <a:p>
              <a:pPr defTabSz="609585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1000" dirty="0">
                <a:solidFill>
                  <a:schemeClr val="tx1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E6494AF-876E-4892-2075-D8AA2C767C01}"/>
              </a:ext>
            </a:extLst>
          </p:cNvPr>
          <p:cNvGrpSpPr/>
          <p:nvPr/>
        </p:nvGrpSpPr>
        <p:grpSpPr>
          <a:xfrm>
            <a:off x="6103721" y="1295023"/>
            <a:ext cx="5815427" cy="1372741"/>
            <a:chOff x="6103721" y="1526138"/>
            <a:chExt cx="5815427" cy="1372741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7CBA046-91C4-0C47-E660-CFCD5EB92F3E}"/>
                </a:ext>
              </a:extLst>
            </p:cNvPr>
            <p:cNvSpPr/>
            <p:nvPr/>
          </p:nvSpPr>
          <p:spPr>
            <a:xfrm>
              <a:off x="6103721" y="1526138"/>
              <a:ext cx="5815427" cy="184257"/>
            </a:xfrm>
            <a:prstGeom prst="rect">
              <a:avLst/>
            </a:prstGeom>
            <a:solidFill>
              <a:srgbClr val="BAD8F2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096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609585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067" dirty="0">
                  <a:solidFill>
                    <a:prstClr val="black"/>
                  </a:solidFill>
                  <a:latin typeface="Comic Sans MS" panose="030F0702030302020204" pitchFamily="66" charset="0"/>
                </a:rPr>
                <a:t>4. Root Causes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797B3A9-40F2-8362-2FD2-F3FAF5C359C0}"/>
                </a:ext>
              </a:extLst>
            </p:cNvPr>
            <p:cNvSpPr/>
            <p:nvPr/>
          </p:nvSpPr>
          <p:spPr>
            <a:xfrm>
              <a:off x="6103722" y="1710393"/>
              <a:ext cx="5805620" cy="118848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60960" rtlCol="0" anchor="t"/>
            <a:lstStyle/>
            <a:p>
              <a:pPr marL="228600" indent="-228600" defTabSz="609585" eaLnBrk="0" fontAlgn="base" hangingPunct="0">
                <a:spcBef>
                  <a:spcPct val="0"/>
                </a:spcBef>
                <a:spcAft>
                  <a:spcPct val="0"/>
                </a:spcAft>
                <a:buFont typeface="+mj-lt"/>
                <a:buAutoNum type="arabicPeriod"/>
              </a:pPr>
              <a:r>
                <a:rPr lang="en-US" sz="1000" dirty="0">
                  <a:solidFill>
                    <a:schemeClr val="tx1"/>
                  </a:solidFill>
                </a:rPr>
                <a:t>Single-source firmware vendor lacked schedule transparency</a:t>
              </a:r>
            </a:p>
            <a:p>
              <a:pPr marL="685800" lvl="1" indent="-228600" defTabSz="60958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No early warning of delay; issues surfaced only after the delivery date passed.</a:t>
              </a:r>
            </a:p>
            <a:p>
              <a:pPr marL="228600" indent="-228600" defTabSz="609585" eaLnBrk="0" fontAlgn="base" hangingPunct="0">
                <a:spcBef>
                  <a:spcPct val="0"/>
                </a:spcBef>
                <a:spcAft>
                  <a:spcPct val="0"/>
                </a:spcAft>
                <a:buFont typeface="+mj-lt"/>
                <a:buAutoNum type="arabicPeriod"/>
              </a:pPr>
              <a:r>
                <a:rPr lang="en-US" sz="1000" dirty="0">
                  <a:solidFill>
                    <a:schemeClr val="tx1"/>
                  </a:solidFill>
                </a:rPr>
                <a:t>Tightly coupled test schedule offered no buffer</a:t>
              </a:r>
            </a:p>
            <a:p>
              <a:pPr marL="685800" lvl="1" indent="-228600" defTabSz="60958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Integration and validation steps were interdependent, leaving no room for slippage.</a:t>
              </a:r>
            </a:p>
            <a:p>
              <a:pPr marL="228600" indent="-228600" defTabSz="609585" eaLnBrk="0" fontAlgn="base" hangingPunct="0">
                <a:spcBef>
                  <a:spcPct val="0"/>
                </a:spcBef>
                <a:spcAft>
                  <a:spcPct val="0"/>
                </a:spcAft>
                <a:buFont typeface="+mj-lt"/>
                <a:buAutoNum type="arabicPeriod"/>
              </a:pPr>
              <a:r>
                <a:rPr lang="en-US" sz="1000" dirty="0">
                  <a:solidFill>
                    <a:schemeClr val="tx1"/>
                  </a:solidFill>
                </a:rPr>
                <a:t>Lack of cross-project resource coordination</a:t>
              </a:r>
            </a:p>
            <a:p>
              <a:pPr marL="685800" lvl="1" indent="-228600" defTabSz="60958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Competing priorities across teams limited flexibility to shift resources when issues emerged.</a:t>
              </a:r>
            </a:p>
            <a:p>
              <a:pPr defTabSz="609585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800" dirty="0">
                <a:solidFill>
                  <a:prstClr val="black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4EEA6C7-CEF1-A8BF-81DB-4C4D4EC4E675}"/>
              </a:ext>
            </a:extLst>
          </p:cNvPr>
          <p:cNvGrpSpPr/>
          <p:nvPr/>
        </p:nvGrpSpPr>
        <p:grpSpPr>
          <a:xfrm>
            <a:off x="6103721" y="2712703"/>
            <a:ext cx="5815427" cy="2368947"/>
            <a:chOff x="6103721" y="2874741"/>
            <a:chExt cx="5815427" cy="2368947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90746BA-AB7E-6B9A-CC84-C9216B38B906}"/>
                </a:ext>
              </a:extLst>
            </p:cNvPr>
            <p:cNvSpPr/>
            <p:nvPr/>
          </p:nvSpPr>
          <p:spPr>
            <a:xfrm>
              <a:off x="6103721" y="2874741"/>
              <a:ext cx="5815427" cy="184257"/>
            </a:xfrm>
            <a:prstGeom prst="rect">
              <a:avLst/>
            </a:prstGeom>
            <a:solidFill>
              <a:srgbClr val="BAD8F2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096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609585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067" dirty="0">
                  <a:solidFill>
                    <a:prstClr val="black"/>
                  </a:solidFill>
                  <a:latin typeface="Comic Sans MS" panose="030F0702030302020204" pitchFamily="66" charset="0"/>
                </a:rPr>
                <a:t>5. Proposed Remediation Menu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BA84BC25-ED20-EF12-4642-5A94D71D964A}"/>
                </a:ext>
              </a:extLst>
            </p:cNvPr>
            <p:cNvSpPr/>
            <p:nvPr/>
          </p:nvSpPr>
          <p:spPr>
            <a:xfrm>
              <a:off x="6103722" y="3058997"/>
              <a:ext cx="5805620" cy="21846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60960" rtlCol="0" anchor="t"/>
            <a:lstStyle/>
            <a:p>
              <a:pPr defTabSz="609585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000" dirty="0">
                  <a:solidFill>
                    <a:schemeClr val="tx1"/>
                  </a:solidFill>
                </a:rPr>
                <a:t>As Two primary remediation paths are under evaluation:</a:t>
              </a:r>
            </a:p>
            <a:p>
              <a:pPr marL="228600" indent="-228600" defTabSz="609585" eaLnBrk="0" fontAlgn="base" hangingPunct="0">
                <a:spcBef>
                  <a:spcPct val="0"/>
                </a:spcBef>
                <a:spcAft>
                  <a:spcPct val="0"/>
                </a:spcAft>
                <a:buFont typeface="+mj-lt"/>
                <a:buAutoNum type="arabicPeriod"/>
              </a:pPr>
              <a:r>
                <a:rPr lang="en-US" sz="1000" dirty="0">
                  <a:solidFill>
                    <a:schemeClr val="tx1"/>
                  </a:solidFill>
                </a:rPr>
                <a:t>Hire 3 consultants from High-Tek Consultants</a:t>
              </a:r>
            </a:p>
            <a:p>
              <a:pPr marL="685800" lvl="1" indent="-228600" defTabSz="60958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Brings immediate technical capacity to accelerate firmware integration and testing.</a:t>
              </a:r>
            </a:p>
            <a:p>
              <a:pPr marL="685800" lvl="1" indent="-228600" defTabSz="60958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Cost: $120K (people cost, fixed fee for duration).</a:t>
              </a:r>
            </a:p>
            <a:p>
              <a:pPr marL="685800" lvl="1" indent="-228600" defTabSz="60958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Pros: Quick ramp-up, flexible hours, familiar with our tech stack.</a:t>
              </a:r>
            </a:p>
            <a:p>
              <a:pPr marL="685800" lvl="1" indent="-228600" defTabSz="60958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Cons: Requires close coordination with internal teams to avoid overlap or confusion.</a:t>
              </a:r>
            </a:p>
            <a:p>
              <a:pPr marL="228600" indent="-228600" defTabSz="609585" eaLnBrk="0" fontAlgn="base" hangingPunct="0">
                <a:spcBef>
                  <a:spcPct val="0"/>
                </a:spcBef>
                <a:spcAft>
                  <a:spcPct val="0"/>
                </a:spcAft>
                <a:buFont typeface="+mj-lt"/>
                <a:buAutoNum type="arabicPeriod"/>
              </a:pPr>
              <a:r>
                <a:rPr lang="en-US" sz="1000" dirty="0">
                  <a:solidFill>
                    <a:schemeClr val="tx1"/>
                  </a:solidFill>
                </a:rPr>
                <a:t>License a prebuilt solution from vendor Razzel.  </a:t>
              </a:r>
            </a:p>
            <a:p>
              <a:pPr marL="685800" lvl="1" indent="-228600" defTabSz="60958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Bypasses internal integration delays by replacing core module with a proven, pre-certified alternative.</a:t>
              </a:r>
            </a:p>
            <a:p>
              <a:pPr marL="685800" lvl="1" indent="-228600" defTabSz="60958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Cost: $360K over 4 years (licensing + support).</a:t>
              </a:r>
            </a:p>
            <a:p>
              <a:pPr marL="685800" lvl="1" indent="-228600" defTabSz="60958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Pros: Reduces technical risk, faster time to market.</a:t>
              </a:r>
            </a:p>
            <a:p>
              <a:pPr marL="685800" lvl="1" indent="-228600" defTabSz="609585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</a:pPr>
              <a:r>
                <a:rPr lang="en-US" sz="1000" dirty="0">
                  <a:solidFill>
                    <a:schemeClr val="tx1"/>
                  </a:solidFill>
                </a:rPr>
                <a:t>Cons: Higher long-term cost, loss of customization, dependent on external roadmap.</a:t>
              </a:r>
            </a:p>
            <a:p>
              <a:pPr defTabSz="609585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000" dirty="0">
                  <a:solidFill>
                    <a:schemeClr val="tx1"/>
                  </a:solidFill>
                </a:rPr>
                <a:t>Both options would allow us to meet the October 15 deadline if initiated within the next two weeks. Trade-offs center around cost, flexibility, and long-term ownership.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F9ACAE3-E560-F8AB-3A99-2073140B9502}"/>
              </a:ext>
            </a:extLst>
          </p:cNvPr>
          <p:cNvGrpSpPr/>
          <p:nvPr/>
        </p:nvGrpSpPr>
        <p:grpSpPr>
          <a:xfrm>
            <a:off x="6103721" y="5147196"/>
            <a:ext cx="5815427" cy="1434471"/>
            <a:chOff x="6103721" y="4627030"/>
            <a:chExt cx="5815427" cy="952981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A746694-5706-1D8E-E556-6BB334018AFA}"/>
                </a:ext>
              </a:extLst>
            </p:cNvPr>
            <p:cNvSpPr/>
            <p:nvPr/>
          </p:nvSpPr>
          <p:spPr>
            <a:xfrm>
              <a:off x="6103721" y="4627030"/>
              <a:ext cx="5815427" cy="184257"/>
            </a:xfrm>
            <a:prstGeom prst="rect">
              <a:avLst/>
            </a:prstGeom>
            <a:solidFill>
              <a:srgbClr val="BAD8F2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60960" tIns="60960" rIns="121920" bIns="6096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defTabSz="609585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1067" dirty="0">
                  <a:solidFill>
                    <a:prstClr val="black"/>
                  </a:solidFill>
                  <a:latin typeface="Comic Sans MS" panose="030F0702030302020204" pitchFamily="66" charset="0"/>
                </a:rPr>
                <a:t>6. Next Steps assuming Option 2.  (Option 1 Next Steps is also available)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9CE841B-D61C-ED8F-72EC-30F1E001C41A}"/>
                </a:ext>
              </a:extLst>
            </p:cNvPr>
            <p:cNvSpPr/>
            <p:nvPr/>
          </p:nvSpPr>
          <p:spPr>
            <a:xfrm>
              <a:off x="6103722" y="4811286"/>
              <a:ext cx="5805620" cy="76872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60960" rtlCol="0" anchor="t"/>
            <a:lstStyle/>
            <a:p>
              <a:pPr defTabSz="609585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sz="800" dirty="0">
                <a:solidFill>
                  <a:prstClr val="black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07AE65E-323B-86CC-A416-91A09A32FF97}"/>
              </a:ext>
            </a:extLst>
          </p:cNvPr>
          <p:cNvGrpSpPr/>
          <p:nvPr/>
        </p:nvGrpSpPr>
        <p:grpSpPr>
          <a:xfrm>
            <a:off x="6103721" y="5459276"/>
            <a:ext cx="5805622" cy="1135123"/>
            <a:chOff x="1989573" y="1778558"/>
            <a:chExt cx="6099349" cy="1497206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454935B-9FF1-25D4-340F-1F82E2DC5E5D}"/>
                </a:ext>
              </a:extLst>
            </p:cNvPr>
            <p:cNvSpPr/>
            <p:nvPr/>
          </p:nvSpPr>
          <p:spPr>
            <a:xfrm>
              <a:off x="1989573" y="1778558"/>
              <a:ext cx="1010710" cy="33159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tx1"/>
                  </a:solidFill>
                </a:rPr>
                <a:t>Sep 10</a:t>
              </a: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2559CDBC-CE60-3A44-9297-B2A93CB2B04F}"/>
                </a:ext>
              </a:extLst>
            </p:cNvPr>
            <p:cNvSpPr/>
            <p:nvPr/>
          </p:nvSpPr>
          <p:spPr>
            <a:xfrm>
              <a:off x="3007301" y="1778558"/>
              <a:ext cx="1010710" cy="33159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tx1"/>
                  </a:solidFill>
                </a:rPr>
                <a:t>Sep 17</a:t>
              </a: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93996631-2072-7F3B-3C79-DEB1691A8FB9}"/>
                </a:ext>
              </a:extLst>
            </p:cNvPr>
            <p:cNvSpPr/>
            <p:nvPr/>
          </p:nvSpPr>
          <p:spPr>
            <a:xfrm>
              <a:off x="4025029" y="1778558"/>
              <a:ext cx="1010710" cy="33159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tx1"/>
                  </a:solidFill>
                </a:rPr>
                <a:t>Sep 24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E45F6366-9345-24D4-D619-CFD41D444655}"/>
                </a:ext>
              </a:extLst>
            </p:cNvPr>
            <p:cNvSpPr/>
            <p:nvPr/>
          </p:nvSpPr>
          <p:spPr>
            <a:xfrm>
              <a:off x="5042756" y="1778558"/>
              <a:ext cx="1010710" cy="33159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tx1"/>
                  </a:solidFill>
                </a:rPr>
                <a:t>Oct 1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C070090-F8D1-1D05-C2FB-B63272A744ED}"/>
                </a:ext>
              </a:extLst>
            </p:cNvPr>
            <p:cNvSpPr/>
            <p:nvPr/>
          </p:nvSpPr>
          <p:spPr>
            <a:xfrm>
              <a:off x="6060484" y="1778558"/>
              <a:ext cx="1010710" cy="33159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tx1"/>
                  </a:solidFill>
                </a:rPr>
                <a:t>Oct 8</a:t>
              </a: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D7CC6820-101C-1ECE-4A52-94C1722CDAC6}"/>
                </a:ext>
              </a:extLst>
            </p:cNvPr>
            <p:cNvSpPr/>
            <p:nvPr/>
          </p:nvSpPr>
          <p:spPr>
            <a:xfrm>
              <a:off x="7078212" y="1778558"/>
              <a:ext cx="1010710" cy="331596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100" dirty="0">
                  <a:solidFill>
                    <a:schemeClr val="tx1"/>
                  </a:solidFill>
                </a:rPr>
                <a:t>Oct 15</a:t>
              </a:r>
            </a:p>
          </p:txBody>
        </p: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31D15E53-650A-1BE8-E9C3-57E0BBA5A939}"/>
                </a:ext>
              </a:extLst>
            </p:cNvPr>
            <p:cNvGrpSpPr/>
            <p:nvPr/>
          </p:nvGrpSpPr>
          <p:grpSpPr>
            <a:xfrm>
              <a:off x="1989573" y="2110154"/>
              <a:ext cx="6099349" cy="1165610"/>
              <a:chOff x="1989573" y="2110153"/>
              <a:chExt cx="6099349" cy="2160395"/>
            </a:xfrm>
          </p:grpSpPr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80F78BB5-D4B1-AB88-E6FF-48608448C841}"/>
                  </a:ext>
                </a:extLst>
              </p:cNvPr>
              <p:cNvSpPr/>
              <p:nvPr/>
            </p:nvSpPr>
            <p:spPr>
              <a:xfrm>
                <a:off x="1989573" y="2110153"/>
                <a:ext cx="1010710" cy="216039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100" dirty="0">
                    <a:solidFill>
                      <a:schemeClr val="tx1"/>
                    </a:solidFill>
                  </a:rPr>
                  <a:t>Firm up solution (prefer Option 2)</a:t>
                </a:r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F344E3C8-0603-0647-5F04-AFBCA5BFB5D7}"/>
                  </a:ext>
                </a:extLst>
              </p:cNvPr>
              <p:cNvSpPr/>
              <p:nvPr/>
            </p:nvSpPr>
            <p:spPr>
              <a:xfrm>
                <a:off x="3007301" y="2110153"/>
                <a:ext cx="1010710" cy="216039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100" dirty="0">
                    <a:solidFill>
                      <a:schemeClr val="tx1"/>
                    </a:solidFill>
                  </a:rPr>
                  <a:t>Approval to Supply Chain.</a:t>
                </a:r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052AE03A-F29E-9810-4CE0-C5162E941C4A}"/>
                  </a:ext>
                </a:extLst>
              </p:cNvPr>
              <p:cNvSpPr/>
              <p:nvPr/>
            </p:nvSpPr>
            <p:spPr>
              <a:xfrm>
                <a:off x="4025029" y="2110153"/>
                <a:ext cx="1010710" cy="216039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100" dirty="0">
                    <a:solidFill>
                      <a:schemeClr val="tx1"/>
                    </a:solidFill>
                  </a:rPr>
                  <a:t>Receive training and initial stack</a:t>
                </a:r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CA92F8D-A8E3-2145-CF8F-7FB4DD06904B}"/>
                  </a:ext>
                </a:extLst>
              </p:cNvPr>
              <p:cNvSpPr/>
              <p:nvPr/>
            </p:nvSpPr>
            <p:spPr>
              <a:xfrm>
                <a:off x="5042756" y="2110153"/>
                <a:ext cx="1010710" cy="216039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100" dirty="0">
                    <a:solidFill>
                      <a:schemeClr val="tx1"/>
                    </a:solidFill>
                  </a:rPr>
                  <a:t>Begin testing</a:t>
                </a: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23884AED-0ABB-3127-3918-7C6DE87C460D}"/>
                  </a:ext>
                </a:extLst>
              </p:cNvPr>
              <p:cNvSpPr/>
              <p:nvPr/>
            </p:nvSpPr>
            <p:spPr>
              <a:xfrm>
                <a:off x="6060484" y="2110153"/>
                <a:ext cx="1010710" cy="216039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100" dirty="0">
                    <a:solidFill>
                      <a:schemeClr val="tx1"/>
                    </a:solidFill>
                  </a:rPr>
                  <a:t>Complete feasibility study</a:t>
                </a:r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C91A7DCE-AF62-1312-1EE3-7B8742F9E2F6}"/>
                  </a:ext>
                </a:extLst>
              </p:cNvPr>
              <p:cNvSpPr/>
              <p:nvPr/>
            </p:nvSpPr>
            <p:spPr>
              <a:xfrm>
                <a:off x="7078212" y="2110153"/>
                <a:ext cx="1010710" cy="216039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en-US" sz="1100" dirty="0">
                    <a:solidFill>
                      <a:schemeClr val="tx1"/>
                    </a:solidFill>
                  </a:rPr>
                  <a:t>Confirm release to Sales and key customers</a:t>
                </a:r>
              </a:p>
            </p:txBody>
          </p:sp>
        </p:grp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9D412C32-1A75-3AE8-C6DF-045B3C58B464}"/>
              </a:ext>
            </a:extLst>
          </p:cNvPr>
          <p:cNvSpPr/>
          <p:nvPr/>
        </p:nvSpPr>
        <p:spPr>
          <a:xfrm>
            <a:off x="7878961" y="855999"/>
            <a:ext cx="4021389" cy="36705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60960" rtlCol="0" anchor="ctr"/>
          <a:lstStyle/>
          <a:p>
            <a:pPr defTabSz="609585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067" dirty="0">
                <a:solidFill>
                  <a:prstClr val="black"/>
                </a:solidFill>
                <a:latin typeface="Comic Sans MS" panose="030F0702030302020204" pitchFamily="66" charset="0"/>
              </a:rPr>
              <a:t>Team:  TBD</a:t>
            </a:r>
          </a:p>
        </p:txBody>
      </p:sp>
    </p:spTree>
    <p:extLst>
      <p:ext uri="{BB962C8B-B14F-4D97-AF65-F5344CB8AC3E}">
        <p14:creationId xmlns:p14="http://schemas.microsoft.com/office/powerpoint/2010/main" val="2417172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661</Words>
  <Application>Microsoft Office PowerPoint</Application>
  <PresentationFormat>Widescreen</PresentationFormat>
  <Paragraphs>52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Arial Black</vt:lpstr>
      <vt:lpstr>Comic Sans MS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George Ellis</dc:creator>
  <cp:lastModifiedBy>George Ellis</cp:lastModifiedBy>
  <cp:revision>7</cp:revision>
  <dcterms:created xsi:type="dcterms:W3CDTF">2025-04-07T22:22:52Z</dcterms:created>
  <dcterms:modified xsi:type="dcterms:W3CDTF">2025-04-11T04:07:16Z</dcterms:modified>
</cp:coreProperties>
</file>